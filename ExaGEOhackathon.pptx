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713" r:id="rId3"/>
    <p:sldId id="714" r:id="rId4"/>
    <p:sldId id="715" r:id="rId5"/>
    <p:sldId id="716" r:id="rId6"/>
    <p:sldId id="631" r:id="rId7"/>
    <p:sldId id="726" r:id="rId8"/>
    <p:sldId id="728" r:id="rId9"/>
    <p:sldId id="729" r:id="rId10"/>
    <p:sldId id="732" r:id="rId11"/>
    <p:sldId id="733" r:id="rId12"/>
    <p:sldId id="727" r:id="rId13"/>
    <p:sldId id="730" r:id="rId14"/>
    <p:sldId id="731" r:id="rId15"/>
    <p:sldId id="735" r:id="rId16"/>
    <p:sldId id="719" r:id="rId17"/>
    <p:sldId id="724" r:id="rId18"/>
    <p:sldId id="725" r:id="rId19"/>
    <p:sldId id="734" r:id="rId20"/>
    <p:sldId id="741" r:id="rId21"/>
    <p:sldId id="736" r:id="rId22"/>
    <p:sldId id="737" r:id="rId23"/>
    <p:sldId id="742" r:id="rId24"/>
    <p:sldId id="738" r:id="rId25"/>
    <p:sldId id="739" r:id="rId26"/>
    <p:sldId id="740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808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FEE8C7-6BBF-42B9-AF4F-79C90C3E5C38}" v="13" dt="2024-04-17T10:31:33.4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535" autoAdjust="0"/>
  </p:normalViewPr>
  <p:slideViewPr>
    <p:cSldViewPr snapToGrid="0">
      <p:cViewPr varScale="1">
        <p:scale>
          <a:sx n="59" d="100"/>
          <a:sy n="59" d="100"/>
        </p:scale>
        <p:origin x="924" y="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ny Davies" userId="b3c95d76-c150-4dfb-9197-7b6f01d238ad" providerId="ADAL" clId="{01FEE8C7-6BBF-42B9-AF4F-79C90C3E5C38}"/>
    <pc:docChg chg="undo custSel addSld delSld modSld modSection">
      <pc:chgData name="Vinny Davies" userId="b3c95d76-c150-4dfb-9197-7b6f01d238ad" providerId="ADAL" clId="{01FEE8C7-6BBF-42B9-AF4F-79C90C3E5C38}" dt="2024-04-17T16:34:30.835" v="1802" actId="47"/>
      <pc:docMkLst>
        <pc:docMk/>
      </pc:docMkLst>
      <pc:sldChg chg="del">
        <pc:chgData name="Vinny Davies" userId="b3c95d76-c150-4dfb-9197-7b6f01d238ad" providerId="ADAL" clId="{01FEE8C7-6BBF-42B9-AF4F-79C90C3E5C38}" dt="2024-04-17T09:59:18.332" v="0" actId="2696"/>
        <pc:sldMkLst>
          <pc:docMk/>
          <pc:sldMk cId="506064327" sldId="527"/>
        </pc:sldMkLst>
      </pc:sldChg>
      <pc:sldChg chg="modSp mod">
        <pc:chgData name="Vinny Davies" userId="b3c95d76-c150-4dfb-9197-7b6f01d238ad" providerId="ADAL" clId="{01FEE8C7-6BBF-42B9-AF4F-79C90C3E5C38}" dt="2024-04-17T16:31:52.633" v="1745" actId="20577"/>
        <pc:sldMkLst>
          <pc:docMk/>
          <pc:sldMk cId="1082184432" sldId="537"/>
        </pc:sldMkLst>
        <pc:spChg chg="mod">
          <ac:chgData name="Vinny Davies" userId="b3c95d76-c150-4dfb-9197-7b6f01d238ad" providerId="ADAL" clId="{01FEE8C7-6BBF-42B9-AF4F-79C90C3E5C38}" dt="2024-04-17T16:31:52.633" v="1745" actId="20577"/>
          <ac:spMkLst>
            <pc:docMk/>
            <pc:sldMk cId="1082184432" sldId="537"/>
            <ac:spMk id="6" creationId="{00000000-0000-0000-0000-000000000000}"/>
          </ac:spMkLst>
        </pc:spChg>
      </pc:sldChg>
      <pc:sldChg chg="addSp modSp mod">
        <pc:chgData name="Vinny Davies" userId="b3c95d76-c150-4dfb-9197-7b6f01d238ad" providerId="ADAL" clId="{01FEE8C7-6BBF-42B9-AF4F-79C90C3E5C38}" dt="2024-04-17T10:31:25.339" v="1067" actId="14100"/>
        <pc:sldMkLst>
          <pc:docMk/>
          <pc:sldMk cId="4096281560" sldId="538"/>
        </pc:sldMkLst>
        <pc:spChg chg="add mod">
          <ac:chgData name="Vinny Davies" userId="b3c95d76-c150-4dfb-9197-7b6f01d238ad" providerId="ADAL" clId="{01FEE8C7-6BBF-42B9-AF4F-79C90C3E5C38}" dt="2024-04-17T10:31:25.339" v="1067" actId="14100"/>
          <ac:spMkLst>
            <pc:docMk/>
            <pc:sldMk cId="4096281560" sldId="538"/>
            <ac:spMk id="2" creationId="{80BE1B96-E847-6A1F-0F51-F200D4E75E7D}"/>
          </ac:spMkLst>
        </pc:spChg>
        <pc:spChg chg="mod">
          <ac:chgData name="Vinny Davies" userId="b3c95d76-c150-4dfb-9197-7b6f01d238ad" providerId="ADAL" clId="{01FEE8C7-6BBF-42B9-AF4F-79C90C3E5C38}" dt="2024-04-17T10:29:02.711" v="1041" actId="20577"/>
          <ac:spMkLst>
            <pc:docMk/>
            <pc:sldMk cId="4096281560" sldId="538"/>
            <ac:spMk id="6" creationId="{00000000-0000-0000-0000-000000000000}"/>
          </ac:spMkLst>
        </pc:spChg>
        <pc:picChg chg="add mod">
          <ac:chgData name="Vinny Davies" userId="b3c95d76-c150-4dfb-9197-7b6f01d238ad" providerId="ADAL" clId="{01FEE8C7-6BBF-42B9-AF4F-79C90C3E5C38}" dt="2024-04-17T10:29:08.099" v="1042" actId="1076"/>
          <ac:picMkLst>
            <pc:docMk/>
            <pc:sldMk cId="4096281560" sldId="538"/>
            <ac:picMk id="1026" creationId="{3302B519-F648-23C3-09B7-9D9C0D0C862E}"/>
          </ac:picMkLst>
        </pc:picChg>
      </pc:sldChg>
      <pc:sldChg chg="modSp mod">
        <pc:chgData name="Vinny Davies" userId="b3c95d76-c150-4dfb-9197-7b6f01d238ad" providerId="ADAL" clId="{01FEE8C7-6BBF-42B9-AF4F-79C90C3E5C38}" dt="2024-04-17T11:32:43.964" v="1668" actId="20577"/>
        <pc:sldMkLst>
          <pc:docMk/>
          <pc:sldMk cId="2356635496" sldId="629"/>
        </pc:sldMkLst>
        <pc:spChg chg="mod">
          <ac:chgData name="Vinny Davies" userId="b3c95d76-c150-4dfb-9197-7b6f01d238ad" providerId="ADAL" clId="{01FEE8C7-6BBF-42B9-AF4F-79C90C3E5C38}" dt="2024-04-17T11:32:43.964" v="1668" actId="20577"/>
          <ac:spMkLst>
            <pc:docMk/>
            <pc:sldMk cId="2356635496" sldId="629"/>
            <ac:spMk id="6" creationId="{00000000-0000-0000-0000-000000000000}"/>
          </ac:spMkLst>
        </pc:spChg>
      </pc:sldChg>
      <pc:sldChg chg="modSp mod">
        <pc:chgData name="Vinny Davies" userId="b3c95d76-c150-4dfb-9197-7b6f01d238ad" providerId="ADAL" clId="{01FEE8C7-6BBF-42B9-AF4F-79C90C3E5C38}" dt="2024-04-17T11:32:41.457" v="1667" actId="20577"/>
        <pc:sldMkLst>
          <pc:docMk/>
          <pc:sldMk cId="2437100175" sldId="630"/>
        </pc:sldMkLst>
        <pc:spChg chg="mod">
          <ac:chgData name="Vinny Davies" userId="b3c95d76-c150-4dfb-9197-7b6f01d238ad" providerId="ADAL" clId="{01FEE8C7-6BBF-42B9-AF4F-79C90C3E5C38}" dt="2024-04-17T11:32:41.457" v="1667" actId="20577"/>
          <ac:spMkLst>
            <pc:docMk/>
            <pc:sldMk cId="2437100175" sldId="630"/>
            <ac:spMk id="6" creationId="{00000000-0000-0000-0000-000000000000}"/>
          </ac:spMkLst>
        </pc:spChg>
      </pc:sldChg>
      <pc:sldChg chg="modSp mod">
        <pc:chgData name="Vinny Davies" userId="b3c95d76-c150-4dfb-9197-7b6f01d238ad" providerId="ADAL" clId="{01FEE8C7-6BBF-42B9-AF4F-79C90C3E5C38}" dt="2024-04-17T11:32:47.288" v="1669" actId="20577"/>
        <pc:sldMkLst>
          <pc:docMk/>
          <pc:sldMk cId="2128136279" sldId="631"/>
        </pc:sldMkLst>
        <pc:spChg chg="mod">
          <ac:chgData name="Vinny Davies" userId="b3c95d76-c150-4dfb-9197-7b6f01d238ad" providerId="ADAL" clId="{01FEE8C7-6BBF-42B9-AF4F-79C90C3E5C38}" dt="2024-04-17T11:32:47.288" v="1669" actId="20577"/>
          <ac:spMkLst>
            <pc:docMk/>
            <pc:sldMk cId="2128136279" sldId="631"/>
            <ac:spMk id="6" creationId="{00000000-0000-0000-0000-000000000000}"/>
          </ac:spMkLst>
        </pc:spChg>
      </pc:sldChg>
      <pc:sldChg chg="modSp mod">
        <pc:chgData name="Vinny Davies" userId="b3c95d76-c150-4dfb-9197-7b6f01d238ad" providerId="ADAL" clId="{01FEE8C7-6BBF-42B9-AF4F-79C90C3E5C38}" dt="2024-04-17T16:32:47.840" v="1780" actId="1076"/>
        <pc:sldMkLst>
          <pc:docMk/>
          <pc:sldMk cId="684763642" sldId="676"/>
        </pc:sldMkLst>
        <pc:spChg chg="mod">
          <ac:chgData name="Vinny Davies" userId="b3c95d76-c150-4dfb-9197-7b6f01d238ad" providerId="ADAL" clId="{01FEE8C7-6BBF-42B9-AF4F-79C90C3E5C38}" dt="2024-04-17T16:32:42.981" v="1779" actId="20577"/>
          <ac:spMkLst>
            <pc:docMk/>
            <pc:sldMk cId="684763642" sldId="676"/>
            <ac:spMk id="6" creationId="{00000000-0000-0000-0000-000000000000}"/>
          </ac:spMkLst>
        </pc:spChg>
        <pc:picChg chg="mod">
          <ac:chgData name="Vinny Davies" userId="b3c95d76-c150-4dfb-9197-7b6f01d238ad" providerId="ADAL" clId="{01FEE8C7-6BBF-42B9-AF4F-79C90C3E5C38}" dt="2024-04-17T16:32:47.840" v="1780" actId="1076"/>
          <ac:picMkLst>
            <pc:docMk/>
            <pc:sldMk cId="684763642" sldId="676"/>
            <ac:picMk id="3" creationId="{B43A6778-48FF-37E1-2EFA-DA3F5BCAE46D}"/>
          </ac:picMkLst>
        </pc:picChg>
      </pc:sldChg>
      <pc:sldChg chg="del">
        <pc:chgData name="Vinny Davies" userId="b3c95d76-c150-4dfb-9197-7b6f01d238ad" providerId="ADAL" clId="{01FEE8C7-6BBF-42B9-AF4F-79C90C3E5C38}" dt="2024-04-17T16:34:30.835" v="1802" actId="47"/>
        <pc:sldMkLst>
          <pc:docMk/>
          <pc:sldMk cId="37144589" sldId="679"/>
        </pc:sldMkLst>
      </pc:sldChg>
      <pc:sldChg chg="modSp mod">
        <pc:chgData name="Vinny Davies" userId="b3c95d76-c150-4dfb-9197-7b6f01d238ad" providerId="ADAL" clId="{01FEE8C7-6BBF-42B9-AF4F-79C90C3E5C38}" dt="2024-04-17T16:33:06.462" v="1782" actId="1076"/>
        <pc:sldMkLst>
          <pc:docMk/>
          <pc:sldMk cId="3996239408" sldId="686"/>
        </pc:sldMkLst>
        <pc:spChg chg="mod">
          <ac:chgData name="Vinny Davies" userId="b3c95d76-c150-4dfb-9197-7b6f01d238ad" providerId="ADAL" clId="{01FEE8C7-6BBF-42B9-AF4F-79C90C3E5C38}" dt="2024-04-17T16:33:03.132" v="1781" actId="20577"/>
          <ac:spMkLst>
            <pc:docMk/>
            <pc:sldMk cId="3996239408" sldId="686"/>
            <ac:spMk id="6" creationId="{00000000-0000-0000-0000-000000000000}"/>
          </ac:spMkLst>
        </pc:spChg>
        <pc:picChg chg="mod">
          <ac:chgData name="Vinny Davies" userId="b3c95d76-c150-4dfb-9197-7b6f01d238ad" providerId="ADAL" clId="{01FEE8C7-6BBF-42B9-AF4F-79C90C3E5C38}" dt="2024-04-17T16:33:06.462" v="1782" actId="1076"/>
          <ac:picMkLst>
            <pc:docMk/>
            <pc:sldMk cId="3996239408" sldId="686"/>
            <ac:picMk id="4" creationId="{E6E3FF21-CC2A-AD80-9C9E-E2C2B9007989}"/>
          </ac:picMkLst>
        </pc:picChg>
      </pc:sldChg>
      <pc:sldChg chg="modSp mod">
        <pc:chgData name="Vinny Davies" userId="b3c95d76-c150-4dfb-9197-7b6f01d238ad" providerId="ADAL" clId="{01FEE8C7-6BBF-42B9-AF4F-79C90C3E5C38}" dt="2024-04-17T16:34:11.706" v="1801" actId="20577"/>
        <pc:sldMkLst>
          <pc:docMk/>
          <pc:sldMk cId="3323236656" sldId="691"/>
        </pc:sldMkLst>
        <pc:spChg chg="mod">
          <ac:chgData name="Vinny Davies" userId="b3c95d76-c150-4dfb-9197-7b6f01d238ad" providerId="ADAL" clId="{01FEE8C7-6BBF-42B9-AF4F-79C90C3E5C38}" dt="2024-04-17T16:34:11.706" v="1801" actId="20577"/>
          <ac:spMkLst>
            <pc:docMk/>
            <pc:sldMk cId="3323236656" sldId="691"/>
            <ac:spMk id="6" creationId="{00000000-0000-0000-0000-000000000000}"/>
          </ac:spMkLst>
        </pc:spChg>
        <pc:picChg chg="mod">
          <ac:chgData name="Vinny Davies" userId="b3c95d76-c150-4dfb-9197-7b6f01d238ad" providerId="ADAL" clId="{01FEE8C7-6BBF-42B9-AF4F-79C90C3E5C38}" dt="2024-04-17T16:33:26.293" v="1784" actId="1076"/>
          <ac:picMkLst>
            <pc:docMk/>
            <pc:sldMk cId="3323236656" sldId="691"/>
            <ac:picMk id="3" creationId="{208AF36F-3190-618B-0ACA-CF6D30834868}"/>
          </ac:picMkLst>
        </pc:picChg>
      </pc:sldChg>
      <pc:sldChg chg="modSp mod">
        <pc:chgData name="Vinny Davies" userId="b3c95d76-c150-4dfb-9197-7b6f01d238ad" providerId="ADAL" clId="{01FEE8C7-6BBF-42B9-AF4F-79C90C3E5C38}" dt="2024-04-17T11:32:23.857" v="1666" actId="20577"/>
        <pc:sldMkLst>
          <pc:docMk/>
          <pc:sldMk cId="865267248" sldId="697"/>
        </pc:sldMkLst>
        <pc:spChg chg="mod">
          <ac:chgData name="Vinny Davies" userId="b3c95d76-c150-4dfb-9197-7b6f01d238ad" providerId="ADAL" clId="{01FEE8C7-6BBF-42B9-AF4F-79C90C3E5C38}" dt="2024-04-17T11:32:23.857" v="1666" actId="20577"/>
          <ac:spMkLst>
            <pc:docMk/>
            <pc:sldMk cId="865267248" sldId="697"/>
            <ac:spMk id="6" creationId="{00000000-0000-0000-0000-000000000000}"/>
          </ac:spMkLst>
        </pc:spChg>
      </pc:sldChg>
      <pc:sldChg chg="del">
        <pc:chgData name="Vinny Davies" userId="b3c95d76-c150-4dfb-9197-7b6f01d238ad" providerId="ADAL" clId="{01FEE8C7-6BBF-42B9-AF4F-79C90C3E5C38}" dt="2024-04-17T11:29:00.132" v="1070" actId="47"/>
        <pc:sldMkLst>
          <pc:docMk/>
          <pc:sldMk cId="2167744046" sldId="698"/>
        </pc:sldMkLst>
      </pc:sldChg>
      <pc:sldChg chg="modSp mod">
        <pc:chgData name="Vinny Davies" userId="b3c95d76-c150-4dfb-9197-7b6f01d238ad" providerId="ADAL" clId="{01FEE8C7-6BBF-42B9-AF4F-79C90C3E5C38}" dt="2024-04-17T10:19:39.113" v="689" actId="20577"/>
        <pc:sldMkLst>
          <pc:docMk/>
          <pc:sldMk cId="4018376461" sldId="699"/>
        </pc:sldMkLst>
        <pc:spChg chg="mod">
          <ac:chgData name="Vinny Davies" userId="b3c95d76-c150-4dfb-9197-7b6f01d238ad" providerId="ADAL" clId="{01FEE8C7-6BBF-42B9-AF4F-79C90C3E5C38}" dt="2024-04-17T09:59:53.868" v="31" actId="20577"/>
          <ac:spMkLst>
            <pc:docMk/>
            <pc:sldMk cId="4018376461" sldId="699"/>
            <ac:spMk id="5" creationId="{00000000-0000-0000-0000-000000000000}"/>
          </ac:spMkLst>
        </pc:spChg>
        <pc:spChg chg="mod">
          <ac:chgData name="Vinny Davies" userId="b3c95d76-c150-4dfb-9197-7b6f01d238ad" providerId="ADAL" clId="{01FEE8C7-6BBF-42B9-AF4F-79C90C3E5C38}" dt="2024-04-17T10:19:39.113" v="689" actId="20577"/>
          <ac:spMkLst>
            <pc:docMk/>
            <pc:sldMk cId="4018376461" sldId="699"/>
            <ac:spMk id="6" creationId="{00000000-0000-0000-0000-000000000000}"/>
          </ac:spMkLst>
        </pc:spChg>
      </pc:sldChg>
      <pc:sldChg chg="del">
        <pc:chgData name="Vinny Davies" userId="b3c95d76-c150-4dfb-9197-7b6f01d238ad" providerId="ADAL" clId="{01FEE8C7-6BBF-42B9-AF4F-79C90C3E5C38}" dt="2024-04-17T09:59:35.068" v="1" actId="47"/>
        <pc:sldMkLst>
          <pc:docMk/>
          <pc:sldMk cId="3820581231" sldId="706"/>
        </pc:sldMkLst>
      </pc:sldChg>
      <pc:sldChg chg="del">
        <pc:chgData name="Vinny Davies" userId="b3c95d76-c150-4dfb-9197-7b6f01d238ad" providerId="ADAL" clId="{01FEE8C7-6BBF-42B9-AF4F-79C90C3E5C38}" dt="2024-04-17T09:59:35.068" v="1" actId="47"/>
        <pc:sldMkLst>
          <pc:docMk/>
          <pc:sldMk cId="1248386259" sldId="707"/>
        </pc:sldMkLst>
      </pc:sldChg>
      <pc:sldChg chg="del">
        <pc:chgData name="Vinny Davies" userId="b3c95d76-c150-4dfb-9197-7b6f01d238ad" providerId="ADAL" clId="{01FEE8C7-6BBF-42B9-AF4F-79C90C3E5C38}" dt="2024-04-17T09:59:35.068" v="1" actId="47"/>
        <pc:sldMkLst>
          <pc:docMk/>
          <pc:sldMk cId="3967635873" sldId="708"/>
        </pc:sldMkLst>
      </pc:sldChg>
      <pc:sldChg chg="del">
        <pc:chgData name="Vinny Davies" userId="b3c95d76-c150-4dfb-9197-7b6f01d238ad" providerId="ADAL" clId="{01FEE8C7-6BBF-42B9-AF4F-79C90C3E5C38}" dt="2024-04-17T09:59:35.068" v="1" actId="47"/>
        <pc:sldMkLst>
          <pc:docMk/>
          <pc:sldMk cId="1231612961" sldId="709"/>
        </pc:sldMkLst>
      </pc:sldChg>
      <pc:sldChg chg="add del">
        <pc:chgData name="Vinny Davies" userId="b3c95d76-c150-4dfb-9197-7b6f01d238ad" providerId="ADAL" clId="{01FEE8C7-6BBF-42B9-AF4F-79C90C3E5C38}" dt="2024-04-17T10:26:59.663" v="821" actId="2696"/>
        <pc:sldMkLst>
          <pc:docMk/>
          <pc:sldMk cId="4118207217" sldId="71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24E5BB-E6B0-B84A-ABCD-9A3E9C2D78C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89803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A2CE1-02CE-615B-C794-A8A2F2485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9091FD-FC58-3883-4F96-D0990A3915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4BF84A-70A8-7645-61B6-F0497B80B0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82C0CF-DE6D-C4CF-ADBF-1281500CD9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24E5BB-E6B0-B84A-ABCD-9A3E9C2D78C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88985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FFB8A-1459-6023-CBB5-606537226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2AE05B-20F1-7458-0F7A-97DBCC6BE0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2679DC-9F0C-1C32-CD08-AAFF654006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BF9436-3D40-9083-E0FF-F9067B3157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24E5BB-E6B0-B84A-ABCD-9A3E9C2D78C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66879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18DB6-D751-C069-3457-B0E491856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E88149-95BF-B583-762A-D127B9EF84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64F03B-3EA4-A381-8088-E31AA3EB6A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83A3BF-1997-03F9-770F-F5AF290A45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24E5BB-E6B0-B84A-ABCD-9A3E9C2D78C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69925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3DCEC-F3F7-EC6A-1A88-6E04C675F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2CD0F0-C8CB-C298-8CAB-0640E65396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6AD054-BD0B-D9E8-297C-046CEFD9B2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40AAC5-8ADF-5600-07C1-D520C28D4E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24E5BB-E6B0-B84A-ABCD-9A3E9C2D78C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63012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6D67B-1664-5506-0C62-BE8580C36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C9E014-B8EF-D128-BF26-5187EA7CB0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483F23-0944-91AA-3B25-651F6E5A5A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CC11C7-EB6A-DD9D-F178-9F22C42F5A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24E5BB-E6B0-B84A-ABCD-9A3E9C2D78C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43752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DB8FA-4421-58FB-5ADE-1DDC8A00E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5EA915-1137-6D8D-F2EF-EA47B5D1A2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BA3EAF-848E-68C4-ABFB-5A384C15D1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63183B-9D4F-0DE7-6DB9-D60F653EAE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24E5BB-E6B0-B84A-ABCD-9A3E9C2D78C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98999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DCB95-865D-0F0F-4D13-F4EB03CEA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78FC33-3E64-0FCD-1669-CB401177E9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2C77A5-52BC-A5D7-3F51-19FBD5E744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5F46A-01AD-AAE7-8570-846F9450AE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24E5BB-E6B0-B84A-ABCD-9A3E9C2D78C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53691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DF9DB-EC0A-00C8-8802-E7BF0F6DF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08359E-FCC6-9F03-8940-81A609A138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308866-DD02-75F9-8F0C-39960FC653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BB3378-380C-30AA-27EF-C411EF4F77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24E5BB-E6B0-B84A-ABCD-9A3E9C2D78C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86035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EA79F-EF08-9E89-0E42-761D80A95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C24B54-2BC0-6F12-BC26-9B9BA4692B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15CF49-77A7-CB64-66FD-C6A404C34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05F96A-224D-8C41-B063-B7AE436ECB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24E5BB-E6B0-B84A-ABCD-9A3E9C2D78C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44651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DCAFE-D421-2961-1611-0BFAA9CF8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BC4F8A-8D18-813F-73E5-B08B69F4F5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D4E507-F99C-473C-41A2-C6BA880609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692573-FBF5-64DD-7299-39A3415FB5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24E5BB-E6B0-B84A-ABCD-9A3E9C2D78C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41936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C9088-0490-E428-2E22-A3B3E81E7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CA6EDD-3002-AA41-2CD0-7A4B1D7E7B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7C8BD1-27DB-4305-4B4F-A9E250BDDB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3DB569-BA4F-B7E7-66EA-6DC02CDE4A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24E5BB-E6B0-B84A-ABCD-9A3E9C2D78C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86613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48E1C-A5B6-69F5-BF32-6B50E0A9E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0A8835-C082-4B3B-B82A-2986481974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419EFD-EDA1-BCDA-FF5F-CA690AEBEA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615D10-4F04-6967-349B-9F038CC725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24E5BB-E6B0-B84A-ABCD-9A3E9C2D78C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04345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67CA0-3BFC-C4C0-995D-1D182C45A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B3A75-7AA0-5D07-70C7-0BF084D247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6AA5BE-4D0F-EF7F-EA24-922ED0E87E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4CCEF2-F0AC-9546-ED71-6025D9B823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24E5BB-E6B0-B84A-ABCD-9A3E9C2D78C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30410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A745E-14DB-B26B-6906-FB3FBEB75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7F5788-3DAE-97F6-F800-9BC51593D0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303B22-38E5-8205-C519-5BBAEBE5EA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15B6F-2B4F-44BD-792B-A27399D38A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24E5BB-E6B0-B84A-ABCD-9A3E9C2D78C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33588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8A7B9-165C-7799-5673-B3E6B1541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2D90D4-6F2C-1C81-3DD9-62B3F4D21C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2CFD86-6E42-5ACD-183D-7A8DEE54E6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84E70-381E-6818-5664-2A30A16F38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24E5BB-E6B0-B84A-ABCD-9A3E9C2D78C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2100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2B457-D827-B6CF-057F-6FA07FFD0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D7B2AA-AD13-8F5E-CFF3-AE4EBD1B43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47A2BF-5A4A-F2C5-EB8D-77875A70F9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F1C3B-FD00-768B-6614-3B29D7BC46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24E5BB-E6B0-B84A-ABCD-9A3E9C2D78C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99018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1FE25-CD2C-C055-F932-FFA4854D6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3FF2E3-8FE0-DAE8-ADA8-AC8D50481C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933101-9D08-F925-1458-2870BA9FBD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A571E-E49B-E391-9AAE-1A946FE6D7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24E5BB-E6B0-B84A-ABCD-9A3E9C2D78C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25643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B1507-CBD7-AF27-1E08-57D133003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991157-1716-DDAF-EAD7-1BD95F9082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8F5200-0221-5FCC-CFB0-7F8D5C2758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974A3C-F9A1-A9C9-F5A6-C9BC7563BD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24E5BB-E6B0-B84A-ABCD-9A3E9C2D78C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12160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D35C8-FD8E-E385-EB23-DEDF91549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0576E6-8846-5752-D5CE-35CB19029F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F6251F-20D5-C22B-98DF-36F99D2788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CB2D7-9ECC-F638-5E8C-AA7582F016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24E5BB-E6B0-B84A-ABCD-9A3E9C2D78C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22761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07835-A304-76D3-F689-F848D69BF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3C9C10-14FB-D304-B5ED-2D71B69737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F10F5F-1E73-5C36-42D3-B3B70C8264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84520C-54AD-1534-AAB8-40A1256560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24E5BB-E6B0-B84A-ABCD-9A3E9C2D78C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8864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0170" y="365126"/>
            <a:ext cx="8713630" cy="1040342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3048" y="365125"/>
            <a:ext cx="8702339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B9978F3-40AA-B047-B077-E6C1CE004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/>
          <a:lstStyle>
            <a:lvl1pPr algn="l">
              <a:defRPr/>
            </a:lvl1pPr>
          </a:lstStyle>
          <a:p>
            <a:endParaRPr lang="en-GB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157762F7-94EF-0744-BA0E-BF26083BC29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90563" y="3016250"/>
            <a:ext cx="5680075" cy="622300"/>
          </a:xfr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C5A3FE5F-792E-894C-96F2-B918CA1BC6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9567" y="1705342"/>
            <a:ext cx="11100631" cy="47404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 b="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Body text Arial 24pt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qu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8795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54" r:id="rId4"/>
    <p:sldLayoutId id="2147483656" r:id="rId5"/>
    <p:sldLayoutId id="2147483649" r:id="rId6"/>
    <p:sldLayoutId id="2147483684" r:id="rId7"/>
    <p:sldLayoutId id="2147483691" r:id="rId8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e Gilbert Scott Building">
            <a:extLst>
              <a:ext uri="{FF2B5EF4-FFF2-40B4-BE49-F238E27FC236}">
                <a16:creationId xmlns:a16="http://schemas.microsoft.com/office/drawing/2014/main" id="{FF1A23DB-72C1-9274-CD20-393ED61693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1076565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ExaGEO Hackathon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690418" y="2310063"/>
            <a:ext cx="6528988" cy="13956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</a:rPr>
              <a:t>Dr Vinny Davies</a:t>
            </a:r>
          </a:p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</a:rPr>
              <a:t>School of Mathematics &amp;  Statistics</a:t>
            </a:r>
          </a:p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</a:rPr>
              <a:t>University of Glasgow, Scotland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8A8550F-BA3B-8C3C-4A86-678C40ACFEB4}"/>
              </a:ext>
            </a:extLst>
          </p:cNvPr>
          <p:cNvSpPr txBox="1">
            <a:spLocks/>
          </p:cNvSpPr>
          <p:nvPr/>
        </p:nvSpPr>
        <p:spPr>
          <a:xfrm>
            <a:off x="2752437" y="706583"/>
            <a:ext cx="9210963" cy="888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dirty="0"/>
              <a:t>NOAA Hourly Weather Dataset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340C162-7921-0A63-5DF7-5AC4FB773E31}"/>
              </a:ext>
            </a:extLst>
          </p:cNvPr>
          <p:cNvSpPr txBox="1">
            <a:spLocks/>
          </p:cNvSpPr>
          <p:nvPr/>
        </p:nvSpPr>
        <p:spPr>
          <a:xfrm>
            <a:off x="177800" y="1604800"/>
            <a:ext cx="11176000" cy="5126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dirty="0"/>
              <a:t>Global </a:t>
            </a:r>
            <a:r>
              <a:rPr lang="en-GB" b="1" dirty="0"/>
              <a:t>weather observations from monitoring stations</a:t>
            </a:r>
            <a:r>
              <a:rPr lang="en-GB" dirty="0"/>
              <a:t> </a:t>
            </a:r>
          </a:p>
          <a:p>
            <a:pPr lvl="0"/>
            <a:r>
              <a:rPr lang="en-GB" dirty="0"/>
              <a:t>Measurements recorded at </a:t>
            </a:r>
            <a:r>
              <a:rPr lang="en-GB" b="1" dirty="0"/>
              <a:t>hourly or sub-hourly intervals</a:t>
            </a:r>
            <a:r>
              <a:rPr lang="en-GB" dirty="0"/>
              <a:t> </a:t>
            </a:r>
          </a:p>
          <a:p>
            <a:pPr lvl="0"/>
            <a:r>
              <a:rPr lang="en-GB" dirty="0"/>
              <a:t>Includes </a:t>
            </a:r>
            <a:r>
              <a:rPr lang="en-GB" b="1" dirty="0"/>
              <a:t>temperature, wind, humidity, pressure and precipitation</a:t>
            </a:r>
            <a:r>
              <a:rPr lang="en-GB" dirty="0"/>
              <a:t> </a:t>
            </a:r>
          </a:p>
          <a:p>
            <a:pPr lvl="0"/>
            <a:r>
              <a:rPr lang="en-GB" dirty="0"/>
              <a:t>Covers </a:t>
            </a:r>
            <a:r>
              <a:rPr lang="en-GB" b="1" dirty="0"/>
              <a:t>many years</a:t>
            </a:r>
            <a:r>
              <a:rPr lang="en-GB" dirty="0"/>
              <a:t>, allowing seasonal and longer-term patterns to be explored </a:t>
            </a:r>
          </a:p>
          <a:p>
            <a:pPr lvl="0"/>
            <a:r>
              <a:rPr lang="en-GB" dirty="0"/>
              <a:t>Real-world data with </a:t>
            </a:r>
            <a:r>
              <a:rPr lang="en-GB" b="1" dirty="0"/>
              <a:t>missing observations, noise and extreme events</a:t>
            </a:r>
            <a:r>
              <a:rPr lang="en-GB" dirty="0"/>
              <a:t> </a:t>
            </a:r>
          </a:p>
          <a:p>
            <a:pPr lvl="0"/>
            <a:r>
              <a:rPr lang="en-GB" dirty="0"/>
              <a:t>Well suited to </a:t>
            </a:r>
            <a:r>
              <a:rPr lang="en-GB" b="1" dirty="0"/>
              <a:t>time-series forecasting and deep learning</a:t>
            </a:r>
            <a:endParaRPr lang="en-GB" dirty="0"/>
          </a:p>
          <a:p>
            <a:pPr marL="380990" indent="-380990">
              <a:spcAft>
                <a:spcPts val="667"/>
              </a:spcAft>
              <a:buFont typeface="Arial" charset="0"/>
              <a:buChar char="•"/>
            </a:pPr>
            <a:endParaRPr lang="en-US" sz="2300" kern="0" dirty="0">
              <a:solidFill>
                <a:srgbClr val="003560"/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3909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BB28A-407A-848B-7AB2-939008CF7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1EEF12F-29C9-0EC6-A410-830F8CB38E2F}"/>
              </a:ext>
            </a:extLst>
          </p:cNvPr>
          <p:cNvSpPr txBox="1">
            <a:spLocks/>
          </p:cNvSpPr>
          <p:nvPr/>
        </p:nvSpPr>
        <p:spPr>
          <a:xfrm>
            <a:off x="2752437" y="706583"/>
            <a:ext cx="9210963" cy="888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Glasgow Airport (3 days)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35AEB5-F60B-673D-45D9-68EFC3690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735" y="1595369"/>
            <a:ext cx="8706530" cy="5111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036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3F6E4-752D-B152-91E4-44DC91FA5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2C2CB2-28B2-3E7F-AC7C-FE96FA604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489" y="1495844"/>
            <a:ext cx="8615022" cy="505803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AF9AAF7-D05C-4200-3C60-00E3D546DCE5}"/>
              </a:ext>
            </a:extLst>
          </p:cNvPr>
          <p:cNvSpPr txBox="1">
            <a:spLocks/>
          </p:cNvSpPr>
          <p:nvPr/>
        </p:nvSpPr>
        <p:spPr>
          <a:xfrm>
            <a:off x="2752437" y="706583"/>
            <a:ext cx="9210963" cy="888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Glasgow Airport (2 years)</a:t>
            </a:r>
          </a:p>
        </p:txBody>
      </p:sp>
    </p:spTree>
    <p:extLst>
      <p:ext uri="{BB962C8B-B14F-4D97-AF65-F5344CB8AC3E}">
        <p14:creationId xmlns:p14="http://schemas.microsoft.com/office/powerpoint/2010/main" val="46171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C9B63-57F8-6827-4FF9-13FBA6009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4CFF222-ED40-5088-3418-0B2DA861A8E3}"/>
              </a:ext>
            </a:extLst>
          </p:cNvPr>
          <p:cNvSpPr txBox="1">
            <a:spLocks/>
          </p:cNvSpPr>
          <p:nvPr/>
        </p:nvSpPr>
        <p:spPr>
          <a:xfrm>
            <a:off x="2752437" y="706583"/>
            <a:ext cx="9210963" cy="888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dirty="0"/>
              <a:t>Aim of Hackathon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6E72E31-C702-B2F3-40FA-979F68079266}"/>
              </a:ext>
            </a:extLst>
          </p:cNvPr>
          <p:cNvSpPr txBox="1">
            <a:spLocks/>
          </p:cNvSpPr>
          <p:nvPr/>
        </p:nvSpPr>
        <p:spPr>
          <a:xfrm>
            <a:off x="177800" y="1604800"/>
            <a:ext cx="11176000" cy="5126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dirty="0"/>
              <a:t>We will use </a:t>
            </a:r>
            <a:r>
              <a:rPr lang="en-GB" b="1" dirty="0"/>
              <a:t>deep learning to predict future weather observations</a:t>
            </a:r>
            <a:r>
              <a:rPr lang="en-GB" dirty="0"/>
              <a:t> </a:t>
            </a:r>
          </a:p>
          <a:p>
            <a:pPr lvl="0"/>
            <a:r>
              <a:rPr lang="en-GB" dirty="0"/>
              <a:t>Weather measurements form a </a:t>
            </a:r>
            <a:r>
              <a:rPr lang="en-GB" b="1" dirty="0"/>
              <a:t>time series</a:t>
            </a:r>
            <a:r>
              <a:rPr lang="en-GB" dirty="0"/>
              <a:t> — observations ordered through time </a:t>
            </a:r>
          </a:p>
          <a:p>
            <a:pPr lvl="0"/>
            <a:r>
              <a:rPr lang="en-GB" dirty="0"/>
              <a:t>Past observations contain information about </a:t>
            </a:r>
            <a:r>
              <a:rPr lang="en-GB" b="1" dirty="0"/>
              <a:t>what is likely to happen next</a:t>
            </a:r>
            <a:r>
              <a:rPr lang="en-GB" dirty="0"/>
              <a:t> </a:t>
            </a:r>
          </a:p>
          <a:p>
            <a:pPr lvl="0"/>
            <a:r>
              <a:rPr lang="en-GB" dirty="0"/>
              <a:t>Neural networks can learn </a:t>
            </a:r>
            <a:r>
              <a:rPr lang="en-GB" b="1" dirty="0"/>
              <a:t>complex temporal patterns</a:t>
            </a:r>
            <a:r>
              <a:rPr lang="en-GB" dirty="0"/>
              <a:t> directly from historical data </a:t>
            </a:r>
          </a:p>
          <a:p>
            <a:pPr lvl="0"/>
            <a:r>
              <a:rPr lang="en-GB" dirty="0"/>
              <a:t>We can use </a:t>
            </a:r>
            <a:r>
              <a:rPr lang="en-GB" b="1" dirty="0"/>
              <a:t>multiple weather variables</a:t>
            </a:r>
            <a:r>
              <a:rPr lang="en-GB" dirty="0"/>
              <a:t> to help make predictions </a:t>
            </a:r>
          </a:p>
          <a:p>
            <a:pPr lvl="0"/>
            <a:r>
              <a:rPr lang="en-GB" dirty="0"/>
              <a:t>The goal is to build and evaluate your own </a:t>
            </a:r>
            <a:r>
              <a:rPr lang="en-GB" b="1" dirty="0"/>
              <a:t>time-series prediction model</a:t>
            </a:r>
            <a:r>
              <a:rPr lang="en-GB" dirty="0"/>
              <a:t> </a:t>
            </a:r>
          </a:p>
          <a:p>
            <a:pPr marL="380990" indent="-380990">
              <a:spcAft>
                <a:spcPts val="667"/>
              </a:spcAft>
              <a:buFont typeface="Arial" charset="0"/>
              <a:buChar char="•"/>
            </a:pPr>
            <a:endParaRPr lang="en-US" sz="2300" kern="0" dirty="0">
              <a:solidFill>
                <a:srgbClr val="003560"/>
              </a:solidFill>
              <a:latin typeface="Arial" charset="0"/>
              <a:ea typeface="Arial" charset="0"/>
              <a:cs typeface="Arial" charset="0"/>
            </a:endParaRPr>
          </a:p>
          <a:p>
            <a:pPr marL="380990" indent="-380990">
              <a:spcAft>
                <a:spcPts val="667"/>
              </a:spcAft>
              <a:buFont typeface="Arial" charset="0"/>
              <a:buChar char="•"/>
            </a:pPr>
            <a:r>
              <a:rPr lang="en-US" sz="2300" kern="0" dirty="0">
                <a:solidFill>
                  <a:srgbClr val="003560"/>
                </a:solidFill>
                <a:latin typeface="Arial" charset="0"/>
                <a:ea typeface="Arial" charset="0"/>
                <a:cs typeface="Arial" charset="0"/>
              </a:rPr>
              <a:t>We will get to more details in a bit…</a:t>
            </a:r>
          </a:p>
        </p:txBody>
      </p:sp>
    </p:spTree>
    <p:extLst>
      <p:ext uri="{BB962C8B-B14F-4D97-AF65-F5344CB8AC3E}">
        <p14:creationId xmlns:p14="http://schemas.microsoft.com/office/powerpoint/2010/main" val="3642447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752437" y="706583"/>
            <a:ext cx="9210963" cy="888786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en-US" dirty="0"/>
              <a:t>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177800" y="1604800"/>
                <a:ext cx="5308601" cy="51262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 marL="380990" indent="-380990">
                  <a:spcAft>
                    <a:spcPts val="667"/>
                  </a:spcAft>
                  <a:buFont typeface="Arial" charset="0"/>
                  <a:buChar char="•"/>
                </a:pPr>
                <a:r>
                  <a:rPr lang="en-US" sz="2300" kern="0" dirty="0">
                    <a:solidFill>
                      <a:srgbClr val="003560"/>
                    </a:solidFill>
                    <a:latin typeface="Arial" charset="0"/>
                    <a:ea typeface="Arial" charset="0"/>
                    <a:cs typeface="Arial" charset="0"/>
                  </a:rPr>
                  <a:t>Firstly, a bit on regression</a:t>
                </a:r>
              </a:p>
              <a:p>
                <a:pPr marL="380990" indent="-380990">
                  <a:spcAft>
                    <a:spcPts val="667"/>
                  </a:spcAft>
                  <a:buFont typeface="Arial" charset="0"/>
                  <a:buChar char="•"/>
                </a:pPr>
                <a:endParaRPr lang="en-US" sz="2300" kern="0" dirty="0">
                  <a:solidFill>
                    <a:srgbClr val="003560"/>
                  </a:solidFill>
                  <a:latin typeface="Arial" charset="0"/>
                  <a:ea typeface="Arial" charset="0"/>
                  <a:cs typeface="Arial" charset="0"/>
                </a:endParaRPr>
              </a:p>
              <a:p>
                <a:pPr marL="0" indent="0">
                  <a:spcAft>
                    <a:spcPts val="667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GB" sz="2300" b="0" i="1" kern="0" smtClean="0">
                          <a:solidFill>
                            <a:srgbClr val="003560"/>
                          </a:solidFill>
                          <a:latin typeface="Cambria Math" panose="02040503050406030204" pitchFamily="18" charset="0"/>
                          <a:ea typeface="Arial" charset="0"/>
                          <a:cs typeface="Arial" charset="0"/>
                        </a:rPr>
                        <m:t>𝑦</m:t>
                      </m:r>
                      <m:r>
                        <a:rPr lang="en-GB" sz="2300" b="0" i="1" kern="0" smtClean="0">
                          <a:solidFill>
                            <a:srgbClr val="003560"/>
                          </a:solidFill>
                          <a:latin typeface="Cambria Math" panose="02040503050406030204" pitchFamily="18" charset="0"/>
                          <a:ea typeface="Arial" charset="0"/>
                          <a:cs typeface="Arial" charset="0"/>
                        </a:rPr>
                        <m:t>=</m:t>
                      </m:r>
                      <m:r>
                        <a:rPr lang="en-GB" sz="2300" b="0" i="1" kern="0" smtClean="0">
                          <a:solidFill>
                            <a:srgbClr val="003560"/>
                          </a:solidFill>
                          <a:latin typeface="Cambria Math" panose="02040503050406030204" pitchFamily="18" charset="0"/>
                          <a:ea typeface="Arial" charset="0"/>
                          <a:cs typeface="Arial" charset="0"/>
                        </a:rPr>
                        <m:t>𝑋𝑤</m:t>
                      </m:r>
                      <m:r>
                        <a:rPr lang="en-GB" sz="2300" b="0" i="1" kern="0" smtClean="0">
                          <a:solidFill>
                            <a:srgbClr val="003560"/>
                          </a:solidFill>
                          <a:latin typeface="Cambria Math" panose="02040503050406030204" pitchFamily="18" charset="0"/>
                          <a:ea typeface="Arial" charset="0"/>
                          <a:cs typeface="Arial" charset="0"/>
                        </a:rPr>
                        <m:t>  </m:t>
                      </m:r>
                      <m:r>
                        <a:rPr lang="en-GB" sz="2300" b="0" i="1" kern="0" smtClean="0">
                          <a:solidFill>
                            <a:srgbClr val="003560"/>
                          </a:solidFill>
                          <a:latin typeface="Cambria Math" panose="02040503050406030204" pitchFamily="18" charset="0"/>
                          <a:ea typeface="Arial" charset="0"/>
                          <a:cs typeface="Arial" charset="0"/>
                        </a:rPr>
                        <m:t>𝑜𝑟</m:t>
                      </m:r>
                      <m:r>
                        <a:rPr lang="en-GB" sz="2300" b="0" i="1" kern="0" smtClean="0">
                          <a:solidFill>
                            <a:srgbClr val="003560"/>
                          </a:solidFill>
                          <a:latin typeface="Cambria Math" panose="02040503050406030204" pitchFamily="18" charset="0"/>
                          <a:ea typeface="Arial" charset="0"/>
                          <a:cs typeface="Arial" charset="0"/>
                        </a:rPr>
                        <m:t>   </m:t>
                      </m:r>
                      <m:r>
                        <a:rPr lang="en-GB" sz="2300" b="0" i="1" kern="0" smtClean="0">
                          <a:solidFill>
                            <a:srgbClr val="003560"/>
                          </a:solidFill>
                          <a:latin typeface="Cambria Math" panose="02040503050406030204" pitchFamily="18" charset="0"/>
                          <a:ea typeface="Arial" charset="0"/>
                          <a:cs typeface="Arial" charset="0"/>
                        </a:rPr>
                        <m:t>𝑦</m:t>
                      </m:r>
                      <m:r>
                        <a:rPr lang="en-GB" sz="2300" b="0" i="1" kern="0" smtClean="0">
                          <a:solidFill>
                            <a:srgbClr val="003560"/>
                          </a:solidFill>
                          <a:latin typeface="Cambria Math" panose="02040503050406030204" pitchFamily="18" charset="0"/>
                          <a:ea typeface="Arial" charset="0"/>
                          <a:cs typeface="Arial" charset="0"/>
                        </a:rPr>
                        <m:t>=</m:t>
                      </m:r>
                      <m:r>
                        <a:rPr lang="en-GB" sz="2300" b="0" i="1" kern="0" smtClean="0">
                          <a:solidFill>
                            <a:srgbClr val="003560"/>
                          </a:solidFill>
                          <a:latin typeface="Cambria Math" panose="02040503050406030204" pitchFamily="18" charset="0"/>
                          <a:ea typeface="Arial" charset="0"/>
                          <a:cs typeface="Arial" charset="0"/>
                        </a:rPr>
                        <m:t>𝑋</m:t>
                      </m:r>
                      <m:r>
                        <a:rPr lang="en-GB" sz="2300" b="0" i="1" kern="0" smtClean="0">
                          <a:solidFill>
                            <a:srgbClr val="003560"/>
                          </a:solidFill>
                          <a:latin typeface="Cambria Math" panose="02040503050406030204" pitchFamily="18" charset="0"/>
                          <a:ea typeface="Arial" charset="0"/>
                          <a:cs typeface="Arial" charset="0"/>
                        </a:rPr>
                        <m:t>𝛽</m:t>
                      </m:r>
                    </m:oMath>
                  </m:oMathPara>
                </a14:m>
                <a:endParaRPr lang="en-US" sz="2300" kern="0" dirty="0">
                  <a:solidFill>
                    <a:srgbClr val="003560"/>
                  </a:solidFill>
                  <a:latin typeface="Arial" charset="0"/>
                  <a:ea typeface="Arial" charset="0"/>
                  <a:cs typeface="Arial" charset="0"/>
                </a:endParaRPr>
              </a:p>
              <a:p>
                <a:pPr marL="0" indent="0">
                  <a:spcAft>
                    <a:spcPts val="667"/>
                  </a:spcAft>
                  <a:buNone/>
                </a:pPr>
                <a:endParaRPr lang="en-US" sz="2300" kern="0" dirty="0">
                  <a:solidFill>
                    <a:srgbClr val="003560"/>
                  </a:solidFill>
                  <a:latin typeface="Arial" charset="0"/>
                  <a:ea typeface="Arial" charset="0"/>
                  <a:cs typeface="Arial" charset="0"/>
                </a:endParaRPr>
              </a:p>
              <a:p>
                <a:pPr>
                  <a:spcAft>
                    <a:spcPts val="667"/>
                  </a:spcAft>
                </a:pPr>
                <a:r>
                  <a:rPr lang="en-US" sz="2300" kern="0" dirty="0">
                    <a:solidFill>
                      <a:srgbClr val="003560"/>
                    </a:solidFill>
                    <a:latin typeface="Arial" charset="0"/>
                    <a:ea typeface="Arial" charset="0"/>
                    <a:cs typeface="Arial" charset="0"/>
                  </a:rPr>
                  <a:t>We can model y using X</a:t>
                </a:r>
              </a:p>
              <a:p>
                <a:pPr>
                  <a:spcAft>
                    <a:spcPts val="667"/>
                  </a:spcAft>
                </a:pPr>
                <a:r>
                  <a:rPr lang="en-US" sz="2300" kern="0" dirty="0">
                    <a:solidFill>
                      <a:srgbClr val="003560"/>
                    </a:solidFill>
                    <a:latin typeface="Arial" charset="0"/>
                    <a:ea typeface="Arial" charset="0"/>
                    <a:cs typeface="Arial" charset="0"/>
                  </a:rPr>
                  <a:t>We can extend this to use multiple X</a:t>
                </a:r>
              </a:p>
            </p:txBody>
          </p:sp>
        </mc:Choice>
        <mc:Fallback xmlns="">
          <p:sp>
            <p:nvSpPr>
              <p:cNvPr id="6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177800" y="1604800"/>
                <a:ext cx="5308601" cy="5126200"/>
              </a:xfrm>
              <a:prstGeom prst="rect">
                <a:avLst/>
              </a:prstGeom>
              <a:blipFill>
                <a:blip r:embed="rId3"/>
                <a:stretch>
                  <a:fillRect l="-1378" t="-15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A graph that plots possible regressions between grade and hours spent on essay.">
            <a:extLst>
              <a:ext uri="{FF2B5EF4-FFF2-40B4-BE49-F238E27FC236}">
                <a16:creationId xmlns:a16="http://schemas.microsoft.com/office/drawing/2014/main" id="{B8727106-77D1-B1E8-6541-4F5C0CAEE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3229" y="1490857"/>
            <a:ext cx="6063343" cy="4403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590F1B-26B6-A1C2-5B9C-15894A282FF9}"/>
              </a:ext>
            </a:extLst>
          </p:cNvPr>
          <p:cNvSpPr txBox="1"/>
          <p:nvPr/>
        </p:nvSpPr>
        <p:spPr>
          <a:xfrm>
            <a:off x="9568544" y="5943478"/>
            <a:ext cx="16655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kern="0" dirty="0">
                <a:solidFill>
                  <a:srgbClr val="003560"/>
                </a:solidFill>
                <a:latin typeface="Arial" charset="0"/>
                <a:ea typeface="Arial" charset="0"/>
                <a:cs typeface="Arial" charset="0"/>
              </a:rPr>
              <a:t>input data (X)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5AE27D-9C02-534D-954C-4DB7DBA16FD7}"/>
              </a:ext>
            </a:extLst>
          </p:cNvPr>
          <p:cNvSpPr txBox="1"/>
          <p:nvPr/>
        </p:nvSpPr>
        <p:spPr>
          <a:xfrm rot="16200000">
            <a:off x="4854388" y="1828893"/>
            <a:ext cx="1872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kern="0" dirty="0">
                <a:solidFill>
                  <a:srgbClr val="003560"/>
                </a:solidFill>
                <a:latin typeface="Arial" charset="0"/>
                <a:ea typeface="Arial" charset="0"/>
                <a:cs typeface="Arial" charset="0"/>
              </a:rPr>
              <a:t>output data (y)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28136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F2542-9283-E7E2-8847-10C76E4C7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4D21C14-0DAB-A905-3E5E-1AD139D71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2437" y="706583"/>
            <a:ext cx="9210963" cy="888786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en-US" dirty="0"/>
              <a:t>Regression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BA7C764-4883-C0F4-1EDB-75481A5686DC}"/>
              </a:ext>
            </a:extLst>
          </p:cNvPr>
          <p:cNvGrpSpPr/>
          <p:nvPr/>
        </p:nvGrpSpPr>
        <p:grpSpPr>
          <a:xfrm>
            <a:off x="1436915" y="1595369"/>
            <a:ext cx="8262256" cy="3640659"/>
            <a:chOff x="1436915" y="1595370"/>
            <a:chExt cx="5050970" cy="225817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65CD007-48AC-F5AA-411D-B3F0585A5B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68018" b="53278"/>
            <a:stretch>
              <a:fillRect/>
            </a:stretch>
          </p:blipFill>
          <p:spPr>
            <a:xfrm>
              <a:off x="1436915" y="1595370"/>
              <a:ext cx="3091542" cy="2258174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0DF2807-8FE5-CC60-14BC-D3F23FADEF8D}"/>
                </a:ext>
              </a:extLst>
            </p:cNvPr>
            <p:cNvSpPr txBox="1"/>
            <p:nvPr/>
          </p:nvSpPr>
          <p:spPr>
            <a:xfrm>
              <a:off x="4093028" y="2177142"/>
              <a:ext cx="2394857" cy="92333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GB" dirty="0"/>
                <a:t> </a:t>
              </a:r>
            </a:p>
            <a:p>
              <a:endParaRPr lang="en-GB" dirty="0"/>
            </a:p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2358618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19D23-FA19-15BC-DD24-F085840D8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556FB82-6651-6121-4795-639FDDD42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2437" y="706583"/>
            <a:ext cx="9210963" cy="888786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en-US" dirty="0"/>
              <a:t>Neural Networks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8BF02A-349B-8537-49D4-6CA99DB0DE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752" b="52377"/>
          <a:stretch>
            <a:fillRect/>
          </a:stretch>
        </p:blipFill>
        <p:spPr>
          <a:xfrm>
            <a:off x="1421302" y="1998141"/>
            <a:ext cx="9349395" cy="369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469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20C18-BC59-90AB-BE63-A24F5EFD7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1C8D0E5-FE1F-ECF8-2C0D-257CA54F9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2437" y="706583"/>
            <a:ext cx="9210963" cy="888786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en-US" dirty="0"/>
              <a:t>“Deep” Neural Networks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A31A0B-A722-1B65-846B-D625D9AB90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2603"/>
          <a:stretch>
            <a:fillRect/>
          </a:stretch>
        </p:blipFill>
        <p:spPr>
          <a:xfrm>
            <a:off x="275794" y="2044099"/>
            <a:ext cx="11687606" cy="2769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857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813FA-9BF3-64C2-1553-FBAFF3604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F48EAB2-7D83-8DE8-69EF-25D6C63A2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2437" y="706583"/>
            <a:ext cx="9210963" cy="888786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en-US" dirty="0"/>
              <a:t>A small aside...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7FB0A3-293B-4A5F-ECD1-09E5FB4B8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6915" y="1595369"/>
            <a:ext cx="9666514" cy="48332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046967-3297-BB16-3100-E8C3EB4D7DD8}"/>
              </a:ext>
            </a:extLst>
          </p:cNvPr>
          <p:cNvSpPr txBox="1"/>
          <p:nvPr/>
        </p:nvSpPr>
        <p:spPr>
          <a:xfrm>
            <a:off x="4137274" y="4011997"/>
            <a:ext cx="7510439" cy="258532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8849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BC023-E82F-4708-8DC3-06D06323F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AE6B3D9-AED0-9ED1-2BA7-CCABE2E04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2437" y="706583"/>
            <a:ext cx="9210963" cy="888786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en-US" dirty="0"/>
              <a:t>A small aside...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B77630-4104-EA0B-F61E-651C3AED35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298" r="72410"/>
          <a:stretch>
            <a:fillRect/>
          </a:stretch>
        </p:blipFill>
        <p:spPr>
          <a:xfrm>
            <a:off x="3548744" y="1786020"/>
            <a:ext cx="4659085" cy="4365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934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19C71-E155-A921-89A9-B58417FAE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3A10501-042B-8AF2-76FB-D9BB042EA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2437" y="706583"/>
            <a:ext cx="9210963" cy="888786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en-US" dirty="0"/>
              <a:t>Maths of Neural Networks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AD6E2C-6A2E-DAA8-2432-B95B48D651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302"/>
          <a:stretch>
            <a:fillRect/>
          </a:stretch>
        </p:blipFill>
        <p:spPr>
          <a:xfrm>
            <a:off x="1780361" y="1524001"/>
            <a:ext cx="8631277" cy="5333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248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01F6E-7B48-D927-2798-B1BE5CF2D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E8C9BA1-8179-1BC2-6338-AF6B9F583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2437" y="706583"/>
            <a:ext cx="9210963" cy="888786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en-US" dirty="0"/>
              <a:t>Maths of Neural Networks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AE96AE-4C7A-A42B-9802-602D3506AF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936"/>
          <a:stretch>
            <a:fillRect/>
          </a:stretch>
        </p:blipFill>
        <p:spPr>
          <a:xfrm>
            <a:off x="1855466" y="1565296"/>
            <a:ext cx="8556172" cy="5251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582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FB1FA-C469-9FE3-23ED-D540AEFEB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8865F60-70CE-DC2D-C920-02F876394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2437" y="706583"/>
            <a:ext cx="9210963" cy="888786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en-US" dirty="0"/>
              <a:t>Loss Function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12D6C4-6AE6-73AC-D055-80D3225627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301"/>
          <a:stretch>
            <a:fillRect/>
          </a:stretch>
        </p:blipFill>
        <p:spPr>
          <a:xfrm>
            <a:off x="1888671" y="1486286"/>
            <a:ext cx="8692243" cy="537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283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D8EFB-9C68-1C4C-28D3-474D87D3E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79D0AE0-BB36-8EE5-08F9-20320CA0E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2437" y="706583"/>
            <a:ext cx="9210963" cy="888786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en-US" dirty="0"/>
              <a:t>Note on </a:t>
            </a:r>
            <a:r>
              <a:rPr lang="en-US" dirty="0" err="1"/>
              <a:t>Parallelisation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4735E0-9D72-4A12-D461-716AC713CD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471"/>
          <a:stretch>
            <a:fillRect/>
          </a:stretch>
        </p:blipFill>
        <p:spPr>
          <a:xfrm>
            <a:off x="1826078" y="1590106"/>
            <a:ext cx="8539843" cy="5267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4381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7ED10-0564-624E-94AE-1F1560CA7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032384-CC02-5A72-DE0E-624106B14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2437" y="706583"/>
            <a:ext cx="9210963" cy="888786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en-US" dirty="0"/>
              <a:t>Time Series Modelling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C0784D0-F499-35ED-351F-E83B794BBC0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77800" y="1604800"/>
            <a:ext cx="11785600" cy="51262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80990" indent="-380990">
              <a:spcAft>
                <a:spcPts val="667"/>
              </a:spcAft>
              <a:buFont typeface="Arial" charset="0"/>
              <a:buChar char="•"/>
            </a:pPr>
            <a:r>
              <a:rPr lang="en-US" sz="2300" kern="0" dirty="0">
                <a:solidFill>
                  <a:srgbClr val="003560"/>
                </a:solidFill>
                <a:latin typeface="Arial" charset="0"/>
                <a:ea typeface="Arial" charset="0"/>
                <a:cs typeface="Arial" charset="0"/>
              </a:rPr>
              <a:t>When you have time series, there are two potential things you are likely to be interested in</a:t>
            </a:r>
          </a:p>
          <a:p>
            <a:pPr marL="838190" lvl="1" indent="-380990">
              <a:spcAft>
                <a:spcPts val="667"/>
              </a:spcAft>
              <a:buFont typeface="Arial" charset="0"/>
              <a:buChar char="•"/>
            </a:pPr>
            <a:r>
              <a:rPr lang="en-US" sz="2300" kern="0" dirty="0">
                <a:solidFill>
                  <a:srgbClr val="003560"/>
                </a:solidFill>
                <a:latin typeface="Arial" charset="0"/>
                <a:ea typeface="Arial" charset="0"/>
                <a:cs typeface="Arial" charset="0"/>
              </a:rPr>
              <a:t>Forward prediction – predicting the next time point(s) based on previously observed data</a:t>
            </a:r>
          </a:p>
          <a:p>
            <a:pPr marL="838190" lvl="1" indent="-380990">
              <a:spcAft>
                <a:spcPts val="667"/>
              </a:spcAft>
              <a:buFont typeface="Arial" charset="0"/>
              <a:buChar char="•"/>
            </a:pPr>
            <a:r>
              <a:rPr lang="en-US" sz="2300" kern="0" dirty="0">
                <a:solidFill>
                  <a:srgbClr val="003560"/>
                </a:solidFill>
                <a:latin typeface="Arial" charset="0"/>
                <a:ea typeface="Arial" charset="0"/>
                <a:cs typeface="Arial" charset="0"/>
              </a:rPr>
              <a:t>Understanding underlying process – modelling long term trends and relationships</a:t>
            </a:r>
          </a:p>
          <a:p>
            <a:pPr marL="380990" indent="-380990">
              <a:spcAft>
                <a:spcPts val="667"/>
              </a:spcAft>
              <a:buFont typeface="Arial" charset="0"/>
              <a:buChar char="•"/>
            </a:pPr>
            <a:r>
              <a:rPr lang="en-US" sz="2300" kern="0" dirty="0">
                <a:solidFill>
                  <a:srgbClr val="003560"/>
                </a:solidFill>
                <a:latin typeface="Arial" charset="0"/>
                <a:ea typeface="Arial" charset="0"/>
                <a:cs typeface="Arial" charset="0"/>
              </a:rPr>
              <a:t>Today I suggest you mainly look at forward prediction </a:t>
            </a:r>
          </a:p>
        </p:txBody>
      </p:sp>
    </p:spTree>
    <p:extLst>
      <p:ext uri="{BB962C8B-B14F-4D97-AF65-F5344CB8AC3E}">
        <p14:creationId xmlns:p14="http://schemas.microsoft.com/office/powerpoint/2010/main" val="20622145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D74FE-1984-0432-9C3A-EF48423FE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3FE3F3A-E6EA-400D-4A1A-4E3DFBF43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2437" y="706583"/>
            <a:ext cx="9210963" cy="888786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en-US" dirty="0"/>
              <a:t>Maths of data processing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B23A91-C88F-5F2D-B024-0CDD0BC7A4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349" b="5387"/>
          <a:stretch>
            <a:fillRect/>
          </a:stretch>
        </p:blipFill>
        <p:spPr>
          <a:xfrm>
            <a:off x="1110343" y="1519170"/>
            <a:ext cx="10002865" cy="5219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2354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99D66-FCB2-42B7-DF28-496270A9B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FA0A1B5-78EF-77B7-4BA8-44C4A83D8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2437" y="706583"/>
            <a:ext cx="9210963" cy="888786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en-US" dirty="0"/>
              <a:t>Time Series Deep Learning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2700B9-7624-0D77-7000-9B991C1CB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6915" y="1595369"/>
            <a:ext cx="9666514" cy="48332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B2A848-8E0C-8AFB-C518-71B2DBCE431E}"/>
              </a:ext>
            </a:extLst>
          </p:cNvPr>
          <p:cNvSpPr txBox="1"/>
          <p:nvPr/>
        </p:nvSpPr>
        <p:spPr>
          <a:xfrm>
            <a:off x="7489371" y="4011997"/>
            <a:ext cx="4158342" cy="258532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42739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1F56B-A911-9F65-54E3-202022C8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DBD91C2-992E-885B-122F-D45F010A0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2437" y="706583"/>
            <a:ext cx="9210963" cy="888786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en-US" dirty="0"/>
              <a:t>Time Series Deep Learning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0F2B8E-27D4-B31A-42A9-BF6DFDEA07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095" t="46722" r="37275"/>
          <a:stretch>
            <a:fillRect/>
          </a:stretch>
        </p:blipFill>
        <p:spPr>
          <a:xfrm>
            <a:off x="3434443" y="1595369"/>
            <a:ext cx="5323114" cy="4629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859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3B6ED-8CAE-4F3A-C83F-4453A156C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73812CC-4F4B-FC66-2A96-2D4D4E071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2437" y="706583"/>
            <a:ext cx="9210963" cy="888786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en-US" dirty="0"/>
              <a:t>Time Series Deep Learning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D22464-BBE9-A31C-AE20-470C765D4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752" y="1866368"/>
            <a:ext cx="8956496" cy="390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5634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505BE-F728-AAB5-3F02-303884229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DCEA318-1385-6CBE-F036-69A19CE32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2437" y="706583"/>
            <a:ext cx="9210963" cy="888786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en-US" dirty="0"/>
              <a:t>LSTMs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FF3A11-46C7-F026-98B1-E7A9B08FF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6915" y="1595369"/>
            <a:ext cx="9666514" cy="483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5604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0919A-D868-0686-0F75-D2EFBAD7E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446C998-05EF-2858-78B0-314EAC8FC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2437" y="706583"/>
            <a:ext cx="9210963" cy="888786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en-US" dirty="0"/>
              <a:t>LSTMs (Unchecked </a:t>
            </a:r>
            <a:r>
              <a:rPr lang="en-US" dirty="0" err="1"/>
              <a:t>maths</a:t>
            </a:r>
            <a:r>
              <a:rPr lang="en-US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F90DF8-2FBF-A9A6-B597-7547D78525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461"/>
          <a:stretch>
            <a:fillRect/>
          </a:stretch>
        </p:blipFill>
        <p:spPr>
          <a:xfrm>
            <a:off x="1830832" y="1595369"/>
            <a:ext cx="8530336" cy="526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1095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56F9F-0BCE-4020-0089-C82345DBC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31F3638-B4EA-4910-ADAF-7DFC4EB85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2437" y="706583"/>
            <a:ext cx="9210963" cy="888786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en-US" dirty="0"/>
              <a:t>LSTMs (Unchecked </a:t>
            </a:r>
            <a:r>
              <a:rPr lang="en-US" dirty="0" err="1"/>
              <a:t>maths</a:t>
            </a:r>
            <a:r>
              <a:rPr lang="en-US" dirty="0"/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397664-56EE-A2A9-7001-D52ED9BB1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356" y="1908147"/>
            <a:ext cx="8833695" cy="3041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0201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4B753-202E-32A4-2D6D-1A4D4A29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9F0EC7E-B8BA-D597-4ED8-7D485C2C7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2437" y="706583"/>
            <a:ext cx="9210963" cy="888786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en-US" dirty="0"/>
              <a:t>Evaluation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159CF3-BD0C-4A12-CF26-D767CB4C9B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250"/>
          <a:stretch>
            <a:fillRect/>
          </a:stretch>
        </p:blipFill>
        <p:spPr>
          <a:xfrm>
            <a:off x="1883228" y="1469571"/>
            <a:ext cx="8621486" cy="5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9947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31AE8-A3D2-8C40-D043-18626D8B0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0F03DC1-20F3-DE58-3D9C-CDC8D3D2C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2437" y="706583"/>
            <a:ext cx="9210963" cy="888786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en-US" dirty="0"/>
              <a:t>Aim of Hackathon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30CDA5C-BE99-19A1-18D8-24E0E9B68533}"/>
              </a:ext>
            </a:extLst>
          </p:cNvPr>
          <p:cNvSpPr txBox="1">
            <a:spLocks/>
          </p:cNvSpPr>
          <p:nvPr/>
        </p:nvSpPr>
        <p:spPr>
          <a:xfrm>
            <a:off x="177800" y="1604800"/>
            <a:ext cx="11176000" cy="5126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dirty="0"/>
              <a:t>Explore time series deep learning modelling…</a:t>
            </a:r>
          </a:p>
          <a:p>
            <a:pPr lvl="1"/>
            <a:r>
              <a:rPr lang="en-GB" dirty="0"/>
              <a:t>Pick a random location</a:t>
            </a:r>
          </a:p>
          <a:p>
            <a:pPr lvl="1"/>
            <a:r>
              <a:rPr lang="en-GB" dirty="0"/>
              <a:t>Or pick multiple…</a:t>
            </a:r>
          </a:p>
          <a:p>
            <a:pPr lvl="0"/>
            <a:endParaRPr lang="en-GB" sz="2300" kern="0" dirty="0">
              <a:solidFill>
                <a:srgbClr val="003560"/>
              </a:solidFill>
              <a:latin typeface="Arial" charset="0"/>
              <a:ea typeface="Arial" charset="0"/>
              <a:cs typeface="Arial" charset="0"/>
            </a:endParaRPr>
          </a:p>
          <a:p>
            <a:pPr lvl="0"/>
            <a:r>
              <a:rPr lang="en-GB" sz="2300" kern="0" dirty="0">
                <a:solidFill>
                  <a:srgbClr val="003560"/>
                </a:solidFill>
                <a:latin typeface="Arial" charset="0"/>
                <a:ea typeface="Arial" charset="0"/>
                <a:cs typeface="Arial" charset="0"/>
              </a:rPr>
              <a:t>Very much up to you what you do as a team – suggest starting with something simple and building from there</a:t>
            </a:r>
          </a:p>
          <a:p>
            <a:pPr lvl="1"/>
            <a:r>
              <a:rPr lang="en-GB" sz="2300" kern="0" dirty="0">
                <a:solidFill>
                  <a:srgbClr val="003560"/>
                </a:solidFill>
                <a:latin typeface="Arial" charset="0"/>
                <a:ea typeface="Arial" charset="0"/>
                <a:cs typeface="Arial" charset="0"/>
              </a:rPr>
              <a:t>Try adjusting lengths of inputs and outputs</a:t>
            </a:r>
          </a:p>
          <a:p>
            <a:pPr lvl="1"/>
            <a:r>
              <a:rPr lang="en-GB" sz="2300" kern="0" dirty="0">
                <a:solidFill>
                  <a:srgbClr val="003560"/>
                </a:solidFill>
                <a:latin typeface="Arial" charset="0"/>
                <a:ea typeface="Arial" charset="0"/>
                <a:cs typeface="Arial" charset="0"/>
              </a:rPr>
              <a:t>Try different network architectures</a:t>
            </a:r>
          </a:p>
          <a:p>
            <a:endParaRPr lang="en-GB" sz="2300" kern="0" dirty="0">
              <a:solidFill>
                <a:srgbClr val="003560"/>
              </a:solidFill>
              <a:latin typeface="Arial" charset="0"/>
              <a:ea typeface="Arial" charset="0"/>
              <a:cs typeface="Arial" charset="0"/>
            </a:endParaRPr>
          </a:p>
          <a:p>
            <a:r>
              <a:rPr lang="en-GB" sz="2300" kern="0" dirty="0">
                <a:solidFill>
                  <a:srgbClr val="003560"/>
                </a:solidFill>
                <a:latin typeface="Arial" charset="0"/>
                <a:ea typeface="Arial" charset="0"/>
                <a:cs typeface="Arial" charset="0"/>
              </a:rPr>
              <a:t>More advanced</a:t>
            </a:r>
          </a:p>
          <a:p>
            <a:pPr lvl="1"/>
            <a:r>
              <a:rPr lang="en-GB" sz="2300" kern="0" dirty="0">
                <a:solidFill>
                  <a:srgbClr val="003560"/>
                </a:solidFill>
                <a:latin typeface="Arial" charset="0"/>
                <a:ea typeface="Arial" charset="0"/>
                <a:cs typeface="Arial" charset="0"/>
              </a:rPr>
              <a:t>Try out transformers etc</a:t>
            </a:r>
          </a:p>
          <a:p>
            <a:pPr lvl="1"/>
            <a:r>
              <a:rPr lang="en-GB" sz="2300" kern="0" dirty="0">
                <a:solidFill>
                  <a:srgbClr val="003560"/>
                </a:solidFill>
                <a:latin typeface="Arial" charset="0"/>
                <a:ea typeface="Arial" charset="0"/>
                <a:cs typeface="Arial" charset="0"/>
              </a:rPr>
              <a:t>Try some pre-trained models, e.g., Meta’s Prophet</a:t>
            </a:r>
          </a:p>
          <a:p>
            <a:endParaRPr lang="en-GB" sz="2300" kern="0" dirty="0">
              <a:solidFill>
                <a:srgbClr val="003560"/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1832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61593-F215-7568-6997-9550C025F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9824DC4-DF6C-4539-C356-E1FFCA280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2437" y="706583"/>
            <a:ext cx="9210963" cy="888786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en-US" dirty="0"/>
              <a:t>Show and Tell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DAE2D6A-78BE-FB17-D086-C1B95F900288}"/>
              </a:ext>
            </a:extLst>
          </p:cNvPr>
          <p:cNvSpPr txBox="1">
            <a:spLocks/>
          </p:cNvSpPr>
          <p:nvPr/>
        </p:nvSpPr>
        <p:spPr>
          <a:xfrm>
            <a:off x="177800" y="1604800"/>
            <a:ext cx="11176000" cy="5126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300" kern="0" dirty="0">
                <a:solidFill>
                  <a:srgbClr val="003560"/>
                </a:solidFill>
                <a:latin typeface="Arial" charset="0"/>
                <a:ea typeface="Arial" charset="0"/>
                <a:cs typeface="Arial" charset="0"/>
              </a:rPr>
              <a:t>Put together 5min presentation about what you did (12pm)</a:t>
            </a:r>
          </a:p>
          <a:p>
            <a:pPr lvl="1"/>
            <a:r>
              <a:rPr lang="en-GB" sz="2300" kern="0" dirty="0">
                <a:solidFill>
                  <a:srgbClr val="003560"/>
                </a:solidFill>
                <a:latin typeface="Arial" charset="0"/>
                <a:ea typeface="Arial" charset="0"/>
                <a:cs typeface="Arial" charset="0"/>
              </a:rPr>
              <a:t>Some results</a:t>
            </a:r>
          </a:p>
          <a:p>
            <a:pPr lvl="1"/>
            <a:r>
              <a:rPr lang="en-GB" sz="2300" kern="0" dirty="0">
                <a:solidFill>
                  <a:srgbClr val="003560"/>
                </a:solidFill>
                <a:latin typeface="Arial" charset="0"/>
                <a:ea typeface="Arial" charset="0"/>
                <a:cs typeface="Arial" charset="0"/>
              </a:rPr>
              <a:t>Some comparisons</a:t>
            </a:r>
          </a:p>
          <a:p>
            <a:pPr lvl="1"/>
            <a:r>
              <a:rPr lang="en-GB" sz="2300" kern="0" dirty="0">
                <a:solidFill>
                  <a:srgbClr val="003560"/>
                </a:solidFill>
                <a:latin typeface="Arial" charset="0"/>
                <a:ea typeface="Arial" charset="0"/>
                <a:cs typeface="Arial" charset="0"/>
              </a:rPr>
              <a:t>What you learnt?</a:t>
            </a:r>
          </a:p>
        </p:txBody>
      </p:sp>
    </p:spTree>
    <p:extLst>
      <p:ext uri="{BB962C8B-B14F-4D97-AF65-F5344CB8AC3E}">
        <p14:creationId xmlns:p14="http://schemas.microsoft.com/office/powerpoint/2010/main" val="3486067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6524</TotalTime>
  <Words>424</Words>
  <Application>Microsoft Office PowerPoint</Application>
  <PresentationFormat>Widescreen</PresentationFormat>
  <Paragraphs>106</Paragraphs>
  <Slides>26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Cambria Math</vt:lpstr>
      <vt:lpstr>Office Theme</vt:lpstr>
      <vt:lpstr>ExaGEO Hackathon</vt:lpstr>
      <vt:lpstr>PowerPoint Presentation</vt:lpstr>
      <vt:lpstr>PowerPoint Presentation</vt:lpstr>
      <vt:lpstr>PowerPoint Presentation</vt:lpstr>
      <vt:lpstr>PowerPoint Presentation</vt:lpstr>
      <vt:lpstr>Regression</vt:lpstr>
      <vt:lpstr>Regression</vt:lpstr>
      <vt:lpstr>Neural Networks</vt:lpstr>
      <vt:lpstr>“Deep” Neural Networks</vt:lpstr>
      <vt:lpstr>A small aside...</vt:lpstr>
      <vt:lpstr>A small aside...</vt:lpstr>
      <vt:lpstr>Maths of Neural Networks</vt:lpstr>
      <vt:lpstr>Maths of Neural Networks</vt:lpstr>
      <vt:lpstr>Loss Function</vt:lpstr>
      <vt:lpstr>Note on Parallelisation</vt:lpstr>
      <vt:lpstr>Time Series Modelling</vt:lpstr>
      <vt:lpstr>Maths of data processing</vt:lpstr>
      <vt:lpstr>Time Series Deep Learning</vt:lpstr>
      <vt:lpstr>Time Series Deep Learning</vt:lpstr>
      <vt:lpstr>Time Series Deep Learning</vt:lpstr>
      <vt:lpstr>LSTMs</vt:lpstr>
      <vt:lpstr>LSTMs (Unchecked maths)</vt:lpstr>
      <vt:lpstr>LSTMs (Unchecked maths)</vt:lpstr>
      <vt:lpstr>Evaluation</vt:lpstr>
      <vt:lpstr>Aim of Hackathon</vt:lpstr>
      <vt:lpstr>Show and Tell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Pete Howard</dc:creator>
  <cp:lastModifiedBy>Vinny Davies</cp:lastModifiedBy>
  <cp:revision>92</cp:revision>
  <dcterms:created xsi:type="dcterms:W3CDTF">2021-01-06T14:22:07Z</dcterms:created>
  <dcterms:modified xsi:type="dcterms:W3CDTF">2026-09-09T09:27:10Z</dcterms:modified>
</cp:coreProperties>
</file>